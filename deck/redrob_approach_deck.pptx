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100</c:v>
                </c:pt>
              </c:strCache>
            </c:strRef>
          </c:tx>
          <c:spPr>
            <a:solidFill>
              <a:srgbClr val="12A5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Rec. Sys. Eng.</c:v>
                  </c:pt>
                  <c:pt idx="1">
                    <c:v>Search Eng.</c:v>
                  </c:pt>
                  <c:pt idx="2">
                    <c:v>Applied ML Eng.</c:v>
                  </c:pt>
                  <c:pt idx="3">
                    <c:v>ML Engineer</c:v>
                  </c:pt>
                  <c:pt idx="4">
                    <c:v>NLP Engineer</c:v>
                  </c:pt>
                  <c:pt idx="5">
                    <c:v>Other senior/lead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16</c:v>
                </c:pt>
                <c:pt idx="2">
                  <c:v>11</c:v>
                </c:pt>
                <c:pt idx="3">
                  <c:v>11</c:v>
                </c:pt>
                <c:pt idx="4">
                  <c:v>8</c:v>
                </c:pt>
                <c:pt idx="5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152A4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914400"/>
            <a:ext cx="4206240" cy="4206240"/>
          </a:xfrm>
          <a:prstGeom prst="ellipse">
            <a:avLst/>
          </a:prstGeom>
          <a:solidFill>
            <a:srgbClr val="12A594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1323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HACKATHON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Candidate Discovery &amp; Ranking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100,000 candidates the way a great recruiter would -- not by counting keywords, but by understanding career trajectory, evidence of skill, and platform behavior together.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892040"/>
            <a:ext cx="10908792" cy="1188720"/>
          </a:xfrm>
          <a:prstGeom prst="rect">
            <a:avLst>
              <a:gd name="adj" fmla="val 6154"/>
            </a:avLst>
          </a:prstGeom>
          <a:solidFill>
            <a:srgbClr val="152A4D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5029200"/>
            <a:ext cx="272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5532120"/>
            <a:ext cx="2727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ranked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67278" y="5029200"/>
            <a:ext cx="272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 sec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67278" y="5532120"/>
            <a:ext cx="2727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full-pool runtime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94476" y="5029200"/>
            <a:ext cx="272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094476" y="5532120"/>
            <a:ext cx="2727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top 100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21674" y="5029200"/>
            <a:ext cx="272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GB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821674" y="5532120"/>
            <a:ext cx="2727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memory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Falcon  |  Approach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filters can't see what actually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description states this directly: the goal is not finding candidates whose skills section contains the most AI keywords.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3931920"/>
          </a:xfrm>
          <a:prstGeom prst="rect">
            <a:avLst>
              <a:gd name="adj" fmla="val 1860"/>
            </a:avLst>
          </a:prstGeom>
          <a:solidFill>
            <a:srgbClr val="F8E4E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C046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51460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414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 ranker's #1 pick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years experience  |  9 “AI core” skill tags  |  0.76 recruiter response rate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406908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 by the bundled sample_submission.csv, which sorts purely by AI-keyword count and response rate. An HR Manager's skill tags do not make them a search/ranking engineer.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5257800" cy="3931920"/>
          </a:xfrm>
          <a:prstGeom prst="rect">
            <a:avLst>
              <a:gd name="adj" fmla="val 1860"/>
            </a:avLst>
          </a:prstGeom>
          <a:solidFill>
            <a:srgbClr val="FCEFD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39572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51460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4414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“keyword-stuffer” in the data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92240" y="31089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Backend/Data Engineer at Mindtree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list: NLP, Fine-tuning LLMs, LoRA, GANs, Milvus, Image Classification...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2240" y="406908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profile summary: “Most of my career has been data engineering, with some adjacent ML exposure... building competence on the ML side.” Every trending keyword, but not the role.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ONE -- EXPLORE BEFORE YOU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pool draws from a closed, enumerable universe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 scoring logic, we enumerated every distinct value the 100K-candidate pool actually contains.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29000" cy="2743200"/>
          </a:xfrm>
          <a:prstGeom prst="rect">
            <a:avLst>
              <a:gd name="adj" fmla="val 26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328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0428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645920" y="28529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companies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Hand-classified by type: AI-native, big-tech, Indian product company, SaaS, consulting, or fictional placeholder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2103120"/>
            <a:ext cx="3429000" cy="2743200"/>
          </a:xfrm>
          <a:prstGeom prst="rect">
            <a:avLst>
              <a:gd name="adj" fmla="val 26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377440"/>
            <a:ext cx="640080" cy="640080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5328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230428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367528" y="28529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job titles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44568" y="3337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Hand-tiered 0-5 by relevance to the role, e.g. “Search Engineer” = 5, “HR Manager” = 0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91856" y="2103120"/>
            <a:ext cx="3429000" cy="2743200"/>
          </a:xfrm>
          <a:prstGeom prst="rect">
            <a:avLst>
              <a:gd name="adj" fmla="val 2667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66176" y="2377440"/>
            <a:ext cx="640080" cy="640080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53288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89136" y="230428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9089136" y="28529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skills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66176" y="3337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0-1 by genuine relevance to retrieval/ranking, not just “AI-sounding”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166360"/>
            <a:ext cx="11091672" cy="914400"/>
          </a:xfrm>
          <a:prstGeom prst="rect">
            <a:avLst>
              <a:gd name="adj" fmla="val 8000"/>
            </a:avLst>
          </a:prstGeom>
          <a:solidFill>
            <a:srgbClr val="D7F3E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2239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5285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with a universe this small, hand-built lookup tables beat fuzzy matching. We can answer “is Infosys a consulting company?” directly and correctly, every time -- not approximate it with an embedding model.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multiplicative layers, fully offline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 =  disqualifier  ×  behavioral  ×  core fit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20440"/>
          </a:xfrm>
          <a:prstGeom prst="rect">
            <a:avLst>
              <a:gd name="adj" fmla="val 2078"/>
            </a:avLst>
          </a:prstGeom>
          <a:solidFill>
            <a:srgbClr val="152A4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41448"/>
            <a:ext cx="594360" cy="594360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58775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Fit Score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7-component weighted blend: title tier, semantic similarity, trust-weighted skills, experience band, company quality, location, education.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2971800" cy="411480"/>
          </a:xfrm>
          <a:prstGeom prst="rect">
            <a:avLst>
              <a:gd name="adj" fmla="val 11111"/>
            </a:avLst>
          </a:prstGeom>
          <a:solidFill>
            <a:srgbClr val="12A594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074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 0 - 1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69080" y="36347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361688" y="2148840"/>
            <a:ext cx="3520440" cy="3520440"/>
          </a:xfrm>
          <a:prstGeom prst="rect">
            <a:avLst>
              <a:gd name="adj" fmla="val 2078"/>
            </a:avLst>
          </a:prstGeom>
          <a:solidFill>
            <a:srgbClr val="152A4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36008" y="2441448"/>
            <a:ext cx="594360" cy="594360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587752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6008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Disqualifier Multiplier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36008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the JD's explicit “do NOT want” list: pure-research-only, consulting-only, CV/speech-only, framework-only AI exposure, title-hopping.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36008" y="5074920"/>
            <a:ext cx="2971800" cy="411480"/>
          </a:xfrm>
          <a:prstGeom prst="rect">
            <a:avLst>
              <a:gd name="adj" fmla="val 11111"/>
            </a:avLst>
          </a:prstGeom>
          <a:solidFill>
            <a:srgbClr val="12A594">
              <a:alpha val="1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636008" y="5074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 0.25 - 1.0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882128" y="36347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8174736" y="2148840"/>
            <a:ext cx="3520440" cy="3520440"/>
          </a:xfrm>
          <a:prstGeom prst="rect">
            <a:avLst>
              <a:gd name="adj" fmla="val 2078"/>
            </a:avLst>
          </a:prstGeom>
          <a:solidFill>
            <a:srgbClr val="152A4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49056" y="2441448"/>
            <a:ext cx="594360" cy="594360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587752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49056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Multiplier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449056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inactive, unresponsive, or unreachable candidates -- calibrated against the pool's own signal percentiles.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449056" y="5074920"/>
            <a:ext cx="2971800" cy="411480"/>
          </a:xfrm>
          <a:prstGeom prst="rect">
            <a:avLst>
              <a:gd name="adj" fmla="val 11111"/>
            </a:avLst>
          </a:prstGeom>
          <a:solidFill>
            <a:srgbClr val="12A594">
              <a:alpha val="15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8449056" y="5074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 0.45 - 1.2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FIT SCORE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components, weighted by what the JD actually asks for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relevance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92040" y="1508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621414"/>
            <a:ext cx="4846320" cy="256032"/>
          </a:xfrm>
          <a:prstGeom prst="rect">
            <a:avLst>
              <a:gd name="adj" fmla="val 14286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621414"/>
            <a:ext cx="4846320" cy="256032"/>
          </a:xfrm>
          <a:prstGeom prst="rect">
            <a:avLst>
              <a:gd name="adj" fmla="val 14286"/>
            </a:avLst>
          </a:prstGeom>
          <a:solidFill>
            <a:srgbClr val="12A59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208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Career-history semantic similarity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202082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133478"/>
            <a:ext cx="4846320" cy="256032"/>
          </a:xfrm>
          <a:prstGeom prst="rect">
            <a:avLst>
              <a:gd name="adj" fmla="val 14286"/>
            </a:avLst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2133478"/>
            <a:ext cx="4405745" cy="256032"/>
          </a:xfrm>
          <a:prstGeom prst="rect">
            <a:avLst>
              <a:gd name="adj" fmla="val 14286"/>
            </a:avLst>
          </a:prstGeom>
          <a:solidFill>
            <a:srgbClr val="12A59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32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Trust-weighted skill match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53288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645542"/>
            <a:ext cx="4846320" cy="256032"/>
          </a:xfrm>
          <a:prstGeom prst="rect">
            <a:avLst>
              <a:gd name="adj" fmla="val 14286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2645542"/>
            <a:ext cx="4405745" cy="256032"/>
          </a:xfrm>
          <a:prstGeom prst="rect">
            <a:avLst>
              <a:gd name="adj" fmla="val 14286"/>
            </a:avLst>
          </a:prstGeom>
          <a:solidFill>
            <a:srgbClr val="12A59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44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Experience-band fit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0449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157606"/>
            <a:ext cx="4846320" cy="256032"/>
          </a:xfrm>
          <a:prstGeom prst="rect">
            <a:avLst>
              <a:gd name="adj" fmla="val 14286"/>
            </a:avLst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3157606"/>
            <a:ext cx="2863735" cy="256032"/>
          </a:xfrm>
          <a:prstGeom prst="rect">
            <a:avLst>
              <a:gd name="adj" fmla="val 14286"/>
            </a:avLst>
          </a:prstGeom>
          <a:solidFill>
            <a:srgbClr val="3FD0C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570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quality / AI-relevance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55701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3669670"/>
            <a:ext cx="4846320" cy="256032"/>
          </a:xfrm>
          <a:prstGeom prst="rect">
            <a:avLst>
              <a:gd name="adj" fmla="val 14286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3669670"/>
            <a:ext cx="3304309" cy="256032"/>
          </a:xfrm>
          <a:prstGeom prst="rect">
            <a:avLst>
              <a:gd name="adj" fmla="val 14286"/>
            </a:avLst>
          </a:prstGeom>
          <a:solidFill>
            <a:srgbClr val="12A59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fit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40690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4181734"/>
            <a:ext cx="4846320" cy="256032"/>
          </a:xfrm>
          <a:prstGeom prst="rect">
            <a:avLst>
              <a:gd name="adj" fmla="val 14286"/>
            </a:avLst>
          </a:prstGeom>
          <a:solidFill>
            <a:srgbClr val="F4F6F8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4181734"/>
            <a:ext cx="1542011" cy="256032"/>
          </a:xfrm>
          <a:prstGeom prst="rect">
            <a:avLst>
              <a:gd name="adj" fmla="val 14286"/>
            </a:avLst>
          </a:prstGeom>
          <a:solidFill>
            <a:srgbClr val="3FD0C9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811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tier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58114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4693798"/>
            <a:ext cx="4846320" cy="256032"/>
          </a:xfrm>
          <a:prstGeom prst="rect">
            <a:avLst>
              <a:gd name="adj" fmla="val 14286"/>
            </a:avLst>
          </a:prstGeom>
          <a:solidFill>
            <a:srgbClr val="F4F6F8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4693798"/>
            <a:ext cx="660862" cy="256032"/>
          </a:xfrm>
          <a:prstGeom prst="rect">
            <a:avLst>
              <a:gd name="adj" fmla="val 14286"/>
            </a:avLst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2303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hand-set from reading the JD's stated priorities -- see docs/approach.md for the full per-component rationale and what we'd change with ground-truth labels.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 MULTIPLIER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JD's “do NOT want” section, encoded directly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is unusually explicit about disqualifiers. We treat each as a soft multiplier, not a hard zero -- the JD itself hedges every one (“we will probably not move forward”).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1672" cy="713232"/>
          </a:xfrm>
          <a:prstGeom prst="rect">
            <a:avLst>
              <a:gd name="adj" fmla="val 641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research-only career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63440" y="205740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205740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candidates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20574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history in research titles, no production-deployment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1091672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986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consulting-only career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986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0.35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28986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9,745 candidates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28986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at TCS/Infosys/Wipro-type firms, no product company exposure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39896"/>
            <a:ext cx="11091672" cy="713232"/>
          </a:xfrm>
          <a:prstGeom prst="rect">
            <a:avLst>
              <a:gd name="adj" fmla="val 6410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3989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Framework-only AI exposure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3739896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0.55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3739896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2,424 candidates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373989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RAG / Prompt Engineering only -- no retrieval or ranking depth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11091672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811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CV/speech-only specialist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63440" y="458114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0.50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458114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4,417 candidates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45811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or speech skills with no NLP/IR exposure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22392"/>
            <a:ext cx="11091672" cy="713232"/>
          </a:xfrm>
          <a:prstGeom prst="rect">
            <a:avLst>
              <a:gd name="adj" fmla="val 6410"/>
            </a:avLst>
          </a:prstGeom>
          <a:solidFill>
            <a:srgbClr val="F4F6F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223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title-hopping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63440" y="542239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0.70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542239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candidates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542239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≤18mo with 4+ jobs -- no anchor of depth anywhere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reliable signals beat five plausible-sounding ones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every “subtly impossible” pattern we could think of against the full 100K pool, and kept only what was rare enough to actually be a trap.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14800"/>
          </a:xfrm>
          <a:prstGeom prst="rect">
            <a:avLst>
              <a:gd name="adj" fmla="val 1778"/>
            </a:avLst>
          </a:prstGeom>
          <a:solidFill>
            <a:srgbClr val="D7F3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-- genuinely rare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“Expert” skill, 0 months used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candidates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593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by definition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4251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Career-history months ≫ stated years of experience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46177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candidates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965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overlapping-job support in the schema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5577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excluded before scoring: 45  |  Measured honeypot rate in final top 100: 0%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90488" y="1965960"/>
            <a:ext cx="5349240" cy="4114800"/>
          </a:xfrm>
          <a:prstGeom prst="rect">
            <a:avLst>
              <a:gd name="adj" fmla="val 1778"/>
            </a:avLst>
          </a:prstGeom>
          <a:solidFill>
            <a:srgbClr val="F8E4E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19088" y="2194560"/>
            <a:ext cx="457200" cy="457200"/>
          </a:xfrm>
          <a:prstGeom prst="ellipse">
            <a:avLst/>
          </a:prstGeom>
          <a:solidFill>
            <a:srgbClr val="C0463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28600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59168" y="2212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-- too common to be the trap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64808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min &gt; max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64808" y="320954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18,865 candidates (~19% of pool)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464808" y="3749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ends after first job starts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464808" y="407822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19,499 candidates (~19% of pool)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464808" y="46177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duration ≫ total experience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464808" y="494690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2,821 candidates (~2.8% of pool)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464808" y="5120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each fired on a sixth to a fifth of the entire pool -- far too common to be the ~80 intended honeypots. Just noise in the synthetic data generator.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MULTIPLIER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against the pool's real distribution, not guesses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version assumed “active within 14 days” was meaningful. Checking the actual data told a different story: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1672" cy="1554480"/>
          </a:xfrm>
          <a:prstGeom prst="rect">
            <a:avLst>
              <a:gd name="adj" fmla="val 3529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active -- pool percentiles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94067" y="3219535"/>
            <a:ext cx="963934" cy="118025"/>
          </a:xfrm>
          <a:prstGeom prst="rect">
            <a:avLst>
              <a:gd name="adj" fmla="val 23243"/>
            </a:avLst>
          </a:prstGeom>
          <a:solidFill>
            <a:srgbClr val="12A59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83280"/>
            <a:ext cx="1506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018367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0214" y="3190748"/>
            <a:ext cx="963934" cy="146812"/>
          </a:xfrm>
          <a:prstGeom prst="rect">
            <a:avLst>
              <a:gd name="adj" fmla="val 18685"/>
            </a:avLst>
          </a:prstGeom>
          <a:solidFill>
            <a:srgbClr val="12A594"/>
          </a:solidFill>
          <a:ln/>
        </p:spPr>
      </p:sp>
      <p:sp>
        <p:nvSpPr>
          <p:cNvPr id="11" name="Text 9"/>
          <p:cNvSpPr/>
          <p:nvPr/>
        </p:nvSpPr>
        <p:spPr>
          <a:xfrm>
            <a:off x="2329107" y="3383280"/>
            <a:ext cx="1506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29107" y="2989580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06361" y="3098631"/>
            <a:ext cx="963934" cy="238929"/>
          </a:xfrm>
          <a:prstGeom prst="rect">
            <a:avLst>
              <a:gd name="adj" fmla="val 11481"/>
            </a:avLst>
          </a:prstGeom>
          <a:solidFill>
            <a:srgbClr val="3FD0C9"/>
          </a:solidFill>
          <a:ln/>
        </p:spPr>
      </p:sp>
      <p:sp>
        <p:nvSpPr>
          <p:cNvPr id="14" name="Text 12"/>
          <p:cNvSpPr/>
          <p:nvPr/>
        </p:nvSpPr>
        <p:spPr>
          <a:xfrm>
            <a:off x="3835255" y="3383280"/>
            <a:ext cx="1506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35255" y="2897463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12509" y="2946061"/>
            <a:ext cx="963934" cy="391499"/>
          </a:xfrm>
          <a:prstGeom prst="rect">
            <a:avLst>
              <a:gd name="adj" fmla="val 7007"/>
            </a:avLst>
          </a:prstGeom>
          <a:solidFill>
            <a:srgbClr val="3FD0C9"/>
          </a:solidFill>
          <a:ln/>
        </p:spPr>
      </p:sp>
      <p:sp>
        <p:nvSpPr>
          <p:cNvPr id="17" name="Text 15"/>
          <p:cNvSpPr/>
          <p:nvPr/>
        </p:nvSpPr>
        <p:spPr>
          <a:xfrm>
            <a:off x="5341402" y="3383280"/>
            <a:ext cx="1506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1402" y="2744893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18656" y="2781977"/>
            <a:ext cx="963934" cy="555583"/>
          </a:xfrm>
          <a:prstGeom prst="rect">
            <a:avLst>
              <a:gd name="adj" fmla="val 4938"/>
            </a:avLst>
          </a:prstGeom>
          <a:solidFill>
            <a:srgbClr val="3FD0C9"/>
          </a:solidFill>
          <a:ln/>
        </p:spPr>
      </p:sp>
      <p:sp>
        <p:nvSpPr>
          <p:cNvPr id="20" name="Text 18"/>
          <p:cNvSpPr/>
          <p:nvPr/>
        </p:nvSpPr>
        <p:spPr>
          <a:xfrm>
            <a:off x="6847550" y="3383280"/>
            <a:ext cx="1506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47550" y="2580809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24804" y="2655316"/>
            <a:ext cx="963934" cy="682244"/>
          </a:xfrm>
          <a:prstGeom prst="rect">
            <a:avLst>
              <a:gd name="adj" fmla="val 4021"/>
            </a:avLst>
          </a:prstGeom>
          <a:solidFill>
            <a:srgbClr val="C0463A"/>
          </a:solidFill>
          <a:ln/>
        </p:spPr>
      </p:sp>
      <p:sp>
        <p:nvSpPr>
          <p:cNvPr id="23" name="Text 21"/>
          <p:cNvSpPr/>
          <p:nvPr/>
        </p:nvSpPr>
        <p:spPr>
          <a:xfrm>
            <a:off x="8353697" y="3383280"/>
            <a:ext cx="1506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53697" y="2454148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30951" y="2606379"/>
            <a:ext cx="963934" cy="731181"/>
          </a:xfrm>
          <a:prstGeom prst="rect">
            <a:avLst>
              <a:gd name="adj" fmla="val 3752"/>
            </a:avLst>
          </a:prstGeom>
          <a:solidFill>
            <a:srgbClr val="C0463A"/>
          </a:solidFill>
          <a:ln/>
        </p:spPr>
      </p:sp>
      <p:sp>
        <p:nvSpPr>
          <p:cNvPr id="26" name="Text 24"/>
          <p:cNvSpPr/>
          <p:nvPr/>
        </p:nvSpPr>
        <p:spPr>
          <a:xfrm>
            <a:off x="9859845" y="3383280"/>
            <a:ext cx="1506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59845" y="2405211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11091672" cy="1417320"/>
          </a:xfrm>
          <a:prstGeom prst="rect">
            <a:avLst>
              <a:gd name="adj" fmla="val 5161"/>
            </a:avLst>
          </a:prstGeom>
          <a:solidFill>
            <a:srgbClr val="FCEFD9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33088"/>
            <a:ext cx="384048" cy="38404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371600" y="404164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in the entire 100K pool has been active in the last ~30 days. The most recent candidate is ~32 days inactive. A flat “≤14 days = recent” bonus was dead code.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371600" y="45720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(recency, response rate, interview completion, notice period) is now set against the pool's own p10/p25/p50/p75/p90 -- not an assumed absolute value. Notice-period median, for example, is 90 days, not 30.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+ LSA over career history, not a transformer encoder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explicitly rewards latency-quality tradeoff thinking: an LLM call per candidate “will not fit the 5-minute CPU budget.” We made the same call one level down.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926080"/>
          </a:xfrm>
          <a:prstGeom prst="rect">
            <a:avLst>
              <a:gd name="adj" fmla="val 2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budget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forward-pass over 100K career-history texts on CPU eats a meaningful slice of the 5-minute budget by itself, before any scoring logic runs.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2194560"/>
            <a:ext cx="3520440" cy="2926080"/>
          </a:xfrm>
          <a:prstGeom prst="rect">
            <a:avLst>
              <a:gd name="adj" fmla="val 2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468880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regime for the method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36008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and JD text share a fairly constrained professional vocabulary -- exactly where TF-IDF + LSA is competitive relative to its cost.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74736" y="2194560"/>
            <a:ext cx="3520440" cy="2926080"/>
          </a:xfrm>
          <a:prstGeom prst="rect">
            <a:avLst>
              <a:gd name="adj" fmla="val 2500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9056" y="2468880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9056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Inspectability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49056" y="3703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similarity score traces back to specific shared terms -- useful for the Stage 4 review and the Stage 5 interview alike.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5349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with transformer/network access, the natural next step is a small local sentence-encoder behind the same semantic.py interface -- swapped in without touching the rest of the pipeline.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final top-100 shortlist actually looks like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distribution in the top 100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783080"/>
            <a:ext cx="5212080" cy="713232"/>
          </a:xfrm>
          <a:prstGeom prst="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7" name="Text 4"/>
          <p:cNvSpPr/>
          <p:nvPr/>
        </p:nvSpPr>
        <p:spPr>
          <a:xfrm>
            <a:off x="6629400" y="178308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 / 100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75320" y="18562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India-based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JD's strong geography preference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2633472"/>
            <a:ext cx="5212080" cy="713232"/>
          </a:xfrm>
          <a:prstGeom prst="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263347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75320" y="27066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rate in top 100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under the 10% disqualification threshold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3483864"/>
            <a:ext cx="5212080" cy="713232"/>
          </a:xfrm>
          <a:prstGeom prst="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348386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 yrs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75320" y="35570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experience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in the JD's 5-9 year band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4334256"/>
            <a:ext cx="5212080" cy="713232"/>
          </a:xfrm>
          <a:prstGeom prst="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433425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 sec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75320" y="44074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100K-pool runtime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estimated -- well under the 5-min budget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caught our own templated reasoning before submitting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review explicitly samples 10 rows and checks: are the reasonings substantively different from each other? Our first draft failed this by construction.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4023360"/>
          </a:xfrm>
          <a:prstGeom prst="rect">
            <a:avLst>
              <a:gd name="adj" fmla="val 1818"/>
            </a:avLst>
          </a:prstGeom>
          <a:solidFill>
            <a:srgbClr val="F8E4E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86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4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-- every top-100 row, near-identical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480060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6207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“title closely matches the role; career history closely matches the JD's retrieval/ranking focus; well-evidenced skills in...”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4800600" cy="9601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593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“title closely matches the role; career history closely matches the JD's retrieval/ranking focus; strong, endorsement-backed...”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top-100 candidate scores well on title and semantic similarity by definition -- so a reasoning template keyed on “score is high” produces near-identical text everywhere.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2057400"/>
            <a:ext cx="5349240" cy="4023360"/>
          </a:xfrm>
          <a:prstGeom prst="rect">
            <a:avLst>
              <a:gd name="adj" fmla="val 1818"/>
            </a:avLst>
          </a:prstGeom>
          <a:solidFill>
            <a:srgbClr val="D7F3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4808" y="2286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-- specific to each candidate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64808" y="2743200"/>
            <a:ext cx="48006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47688" y="2862072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“...as Staff ML Engineer at Niramai (44mo) their role covers Pinecone; strong, endorsement-backed depth in Learning to Rank, Elasticsearch, BM25.”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64808" y="4069080"/>
            <a:ext cx="48006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47688" y="4187952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“...but based in London, UK -- outside the JD's India preference, no visa sponsorship.”  An honest concern, surfaced even at a strong rank.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64808" y="53492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anchor on each candidate's single most-relevant past role + the specific keywords in its description, plus their best-evidenced skills, plus at least one honest concern when one exists.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52A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ASSUMED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constraints -- verified against the full 100K pool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713232"/>
          </a:xfrm>
          <a:prstGeom prst="rect">
            <a:avLst>
              <a:gd name="adj" fmla="val 7692"/>
            </a:avLst>
          </a:prstGeom>
          <a:solidFill>
            <a:srgbClr val="152A4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64208"/>
            <a:ext cx="402336" cy="402336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7393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087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runtime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94960" y="150876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minutes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138160" y="15087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~50-65 seconds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11091672" cy="713232"/>
          </a:xfrm>
          <a:prstGeom prst="rect">
            <a:avLst>
              <a:gd name="adj" fmla="val 7692"/>
            </a:avLst>
          </a:prstGeom>
          <a:solidFill>
            <a:srgbClr val="152A4D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487168"/>
            <a:ext cx="402336" cy="402336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596896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3317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memory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394960" y="23317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16 GB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138160" y="23317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~2.8 GB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3154680"/>
            <a:ext cx="11091672" cy="713232"/>
          </a:xfrm>
          <a:prstGeom prst="rect">
            <a:avLst>
              <a:gd name="adj" fmla="val 7692"/>
            </a:avLst>
          </a:prstGeom>
          <a:solidFill>
            <a:srgbClr val="152A4D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3310128"/>
            <a:ext cx="402336" cy="402336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419856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1546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usage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394960" y="31546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permitted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138160" y="31546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CPU-only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48640" y="3977640"/>
            <a:ext cx="11091672" cy="713232"/>
          </a:xfrm>
          <a:prstGeom prst="rect">
            <a:avLst>
              <a:gd name="adj" fmla="val 7692"/>
            </a:avLst>
          </a:prstGeom>
          <a:solidFill>
            <a:srgbClr val="152A4D"/>
          </a:solidFill>
          <a:ln/>
        </p:spPr>
      </p:sp>
      <p:sp>
        <p:nvSpPr>
          <p:cNvPr id="24" name="Shape 19"/>
          <p:cNvSpPr/>
          <p:nvPr/>
        </p:nvSpPr>
        <p:spPr>
          <a:xfrm>
            <a:off x="777240" y="4133088"/>
            <a:ext cx="402336" cy="402336"/>
          </a:xfrm>
          <a:prstGeom prst="ellipse">
            <a:avLst/>
          </a:prstGeom>
          <a:solidFill>
            <a:srgbClr val="12A59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42816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9776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 during ranking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394960" y="397764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permitted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138160" y="39776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D0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-- confirmed in source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548640" y="4983480"/>
            <a:ext cx="11091672" cy="1325880"/>
          </a:xfrm>
          <a:prstGeom prst="rect">
            <a:avLst>
              <a:gd name="adj" fmla="val 5517"/>
            </a:avLst>
          </a:prstGeom>
          <a:solidFill>
            <a:srgbClr val="12A594">
              <a:alpha val="12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5120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D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src/rank.py --candidates ./candidates.jsonl --out ./submission.csv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22960" y="5577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end to end, from the raw candidate pool to the validated top-100 CSV. No manual steps, no pre-computation, no hidden state.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-- Redrob Hackathon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Hackathon -- Intelligent Candidate Ranking</dc:title>
  <dc:subject>PptxGenJS Presentation</dc:subject>
  <dc:creator>Falcon</dc:creator>
  <cp:lastModifiedBy>Falcon</cp:lastModifiedBy>
  <cp:revision>1</cp:revision>
  <dcterms:created xsi:type="dcterms:W3CDTF">2026-06-27T16:39:35Z</dcterms:created>
  <dcterms:modified xsi:type="dcterms:W3CDTF">2026-06-27T16:39:35Z</dcterms:modified>
</cp:coreProperties>
</file>